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1936800"/>
            <a:ext cx="9720000" cy="842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PingFang SC"/>
              </a:defRPr>
            </a:pPr>
            <a:r>
              <a:t>Fluid 1.1.0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2908800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PingFang SC"/>
              </a:defRPr>
            </a:pPr>
            <a:r>
              <a:t>The CacheRuntime framework — onboard any cache system with zero controller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2000" y="3880800"/>
            <a:ext cx="7776000" cy="583200"/>
          </a:xfrm>
          <a:prstGeom prst="roundRect">
            <a:avLst/>
          </a:prstGeom>
          <a:solidFill>
            <a:srgbClr val="FFC107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1">
                <a:solidFill>
                  <a:srgbClr val="1A1A1A"/>
                </a:solidFill>
                <a:latin typeface="PingFang SC"/>
              </a:defRPr>
            </a:pPr>
            <a:r>
              <a:t>🎉  Jan 2026 · promoted to a CNCF Incubating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5565600"/>
            <a:ext cx="9720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C7D6F5"/>
                </a:solidFill>
                <a:latin typeface="PingFang SC"/>
              </a:defRPr>
            </a:pPr>
            <a:r>
              <a:t>CNCF Cloud Native Data Orchestration · github.com/fluid-cloudnative/fluid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Release at a glance · since v1.0.8 (Oct 2025)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000" y="2034000"/>
            <a:ext cx="2332800" cy="1360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000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6C8EBF"/>
                </a:solidFill>
                <a:latin typeface="PingFang SC"/>
              </a:defRPr>
            </a:pPr>
            <a:r>
              <a:t>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000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Commits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2400" y="2034000"/>
            <a:ext cx="2332800" cy="1360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2400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82B366"/>
                </a:solidFill>
                <a:latin typeface="PingFang SC"/>
              </a:defRPr>
            </a:pPr>
            <a:r>
              <a:t>487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2400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Pull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99" y="2034000"/>
            <a:ext cx="2332800" cy="13608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8799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D79B00"/>
                </a:solidFill>
                <a:latin typeface="PingFang SC"/>
              </a:defRPr>
            </a:pPr>
            <a: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8799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Contributors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99" y="2034000"/>
            <a:ext cx="2332800" cy="1360800"/>
          </a:xfrm>
          <a:prstGeom prst="roundRect">
            <a:avLst/>
          </a:prstGeom>
          <a:solidFill>
            <a:srgbClr val="E1D5E7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99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9673A6"/>
                </a:solidFill>
                <a:latin typeface="PingFang SC"/>
              </a:defRPr>
            </a:pPr>
            <a:r>
              <a:t>~9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99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3816000"/>
            <a:ext cx="9720000" cy="388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An architectural leap: from "write a controller per cache system" to "onboard any cache system with a single template".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4399200"/>
            <a:ext cx="9720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PingFang SC"/>
              </a:defRPr>
            </a:pPr>
            <a:r>
              <a:t>v1.0.8 (2025-10-30)  →  v1.1.0 (2026-07)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Flagship: the CacheRuntime generic cache-engine framework</a:t>
            </a:r>
          </a:p>
        </p:txBody>
      </p:sp>
      <p:pic>
        <p:nvPicPr>
          <p:cNvPr id="3" name="Picture 2" descr="cacheruntime-arch-landscap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9" y="1440000"/>
            <a:ext cx="11340000" cy="2285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000" y="4188021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CacheRuntimeClass (provider template) + CacheRuntime (user instance) + Dataset → Controller → Master / Worker / Client.</a:t>
            </a:r>
            <a:br/>
            <a:r>
              <a:t>Onboarding an engine drops from "write a Go controller" to "fill in a YAML template".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CacheRuntime · Core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0400" y="1677600"/>
            <a:ext cx="4924800" cy="1036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2400" y="17748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6C8EBF"/>
                </a:solidFill>
                <a:latin typeface="PingFang SC"/>
              </a:defRPr>
            </a:pPr>
            <a:r>
              <a:t>● Declarative &amp; pluggable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1150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Two new CRDs: CacheRuntimeClass (template) + CacheRuntime (instance) — no controller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8799" y="1677600"/>
            <a:ext cx="4924800" cy="1036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748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82B366"/>
                </a:solidFill>
                <a:latin typeface="PingFang SC"/>
              </a:defRPr>
            </a:pPr>
            <a:r>
              <a:t>● Built-in topologies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9" y="21150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MasterSlave / P2P·DHT / ClientOnly — covers mainstream cache architectures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0400" y="3006000"/>
            <a:ext cx="4924800" cy="1036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2400" y="3103199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82B366"/>
                </a:solidFill>
                <a:latin typeface="PingFang SC"/>
              </a:defRPr>
            </a:pPr>
            <a:r>
              <a:t>● Tiered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400" y="34434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Both worker and client support Mem / SSD / HDD multi-tier 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99" y="3006000"/>
            <a:ext cx="4924800" cy="1036800"/>
          </a:xfrm>
          <a:prstGeom prst="roundRect">
            <a:avLst/>
          </a:prstGeom>
          <a:solidFill>
            <a:srgbClr val="E1D5E7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3103199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9673A6"/>
                </a:solidFill>
                <a:latin typeface="PingFang SC"/>
              </a:defRPr>
            </a:pPr>
            <a:r>
              <a:t>● In-place upgrade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34434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Via AdvancedStatefulSet — image changes roll in place, less cache rebuild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400" y="4334400"/>
            <a:ext cx="4924800" cy="10368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400" y="44316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D79B00"/>
                </a:solidFill>
                <a:latin typeface="PingFang SC"/>
              </a:defRPr>
            </a:pPr>
            <a:r>
              <a:t>● Data-flow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400" y="47718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Natively wired to DataLoad / DataProcess for prefetch &amp;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8799" y="4334400"/>
            <a:ext cx="4924800" cy="10368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44316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D6B656"/>
                </a:solidFill>
                <a:latin typeface="PingFang SC"/>
              </a:defRPr>
            </a:pPr>
            <a:r>
              <a:t>● Dynamic mount &amp; self-heal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7718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Auto-remount on mount change / master restart; cache state synced to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First engine: Curvine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2000" y="1677600"/>
            <a:ext cx="9720000" cy="712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Curvine — a high-performance, Rust-based cloud-native distributed cache; the first engine to land on the CacheRuntime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264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Master / Worker architecture, Raft for metadata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5999" y="305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Multi-tier cache: memory / SSD / HDD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345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POSIX-compatible access via FUSE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999" y="386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Works with S3 / HDFS / OSS / MinIO backends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426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Per community benchmarks: higher read throughput than open-source Alluxio on the same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5999" y="467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A few lines of YAML spin up a full cache cluster via CacheRuntime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Data Acceleration for AI</a:t>
            </a:r>
          </a:p>
        </p:txBody>
      </p:sp>
      <p:pic>
        <p:nvPicPr>
          <p:cNvPr id="3" name="Picture 2" descr="ai-data-pipelin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9" y="1620000"/>
            <a:ext cx="11340000" cy="1721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000" y="3907125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Prefetch weights / training data into cache → cut inference cold-start, raise bandwidth use.</a:t>
            </a:r>
            <a:br/>
            <a:r>
              <a:t>High-performance stores (e.g. 3FS) integrate via ThinRuntime; KV-cache offload is a 2026 roadmap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Engine &amp; Feature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6600" y="2034000"/>
            <a:ext cx="3078000" cy="16200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6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6C8EBF"/>
                </a:solidFill>
                <a:latin typeface="PingFang SC"/>
              </a:defRPr>
            </a:pPr>
            <a:r>
              <a:t>JindoCache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6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RDMA support</a:t>
            </a:r>
            <a:br/>
            <a:r>
              <a:t>unlocks high-perf network read</a:t>
            </a:r>
            <a:br/>
            <a:r>
              <a:t>+ master crash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3000" y="2034000"/>
            <a:ext cx="3078000" cy="16200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30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82B366"/>
                </a:solidFill>
                <a:latin typeface="PingFang SC"/>
              </a:defRPr>
            </a:pPr>
            <a:r>
              <a:t>JuiceFSRuntime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30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Worker</a:t>
            </a:r>
            <a:br/>
            <a:r>
              <a:t>volumeClaimTemplates</a:t>
            </a:r>
            <a:br/>
            <a:r>
              <a:t>more flexible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9400" y="2034000"/>
            <a:ext cx="3078000" cy="16200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94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D79B00"/>
                </a:solidFill>
                <a:latin typeface="PingFang SC"/>
              </a:defRPr>
            </a:pPr>
            <a:r>
              <a:t>DataProcess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94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Cron scheduling</a:t>
            </a:r>
            <a:br/>
            <a:r>
              <a:t>+ OnEvent triggers</a:t>
            </a:r>
            <a:br/>
            <a:r>
              <a:t>fits automation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4075200"/>
            <a:ext cx="9720000" cy="453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PingFang SC"/>
              </a:defRPr>
            </a:pPr>
            <a:r>
              <a:t>Also: global skip-runtime-sync switch · more resource names on runtime pods · host-PID feature gate · CSI fast node-label path &amp; recovery loop · Jindo multi-mount OSS secrets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Reliability &amp; Security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7999" y="1677600"/>
            <a:ext cx="5022000" cy="32400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999" y="1742400"/>
            <a:ext cx="5022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82B366"/>
                </a:solidFill>
                <a:latin typeface="PingFang SC"/>
              </a:defRPr>
            </a:pPr>
            <a:r>
              <a:t>Reliability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131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240+ testing / E2E improvements (largest ever)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400" y="25524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Full test-suite migration to Ginkgo v2 + Gomega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400" y="29736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gohook → gomonkey for stubbing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400" y="33948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Fixed data races and controller panics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400" y="38160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Retry-on-conflict on critical paths (UFS / 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400" y="4237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DataLoad/DataMigrate correctly watch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3999" y="1677600"/>
            <a:ext cx="5022000" cy="3240000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3999" y="1742400"/>
            <a:ext cx="5022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B85450"/>
                </a:solidFill>
                <a:latin typeface="PingFang SC"/>
              </a:defRPr>
            </a:pPr>
            <a:r>
              <a:t>Security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400" y="2131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Least-privilege RBAC / ClusterRole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400" y="25524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Tightened GitHub Actions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400" y="29736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Fixed path-injection risk in addons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400" y="33948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Base image bumped to alpine 3.23.3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400" y="38160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Removed bundled Helm binaries from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400" y="4237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PingFang SC"/>
              </a:defRPr>
            </a:pPr>
            <a:r>
              <a:t>• Removed hardcoded Asia/Shanghai timezone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Deprecation &amp; Upgrade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2000" y="1742400"/>
            <a:ext cx="9720000" cy="7128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⚠  GooseFSRuntime is deprecated; its resources and docs are removed — plan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2714399"/>
            <a:ext cx="9720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Upgrade: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2000" y="3006000"/>
            <a:ext cx="9720000" cy="1166400"/>
          </a:xfrm>
          <a:prstGeom prst="roundRect">
            <a:avLst/>
          </a:prstGeom>
          <a:solidFill>
            <a:srgbClr val="2B2B2B"/>
          </a:solidFill>
          <a:ln w="1524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helm repo add fluid https://fluid-cloudnative.github.io/charts</a:t>
            </a:r>
            <a:br/>
            <a:r>
              <a:t>helm repo update</a:t>
            </a:r>
            <a:br/>
            <a:r>
              <a:t>helm upgrade --install fluid fluid/fluid --version 1.1.0 -n fluid-system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4334400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PingFang SC"/>
              </a:defRPr>
            </a:pPr>
            <a:r>
              <a:t>Note: new CacheRuntime / CacheRuntimeClass CRDs — update CRDs on upgrade;</a:t>
            </a:r>
            <a:br/>
            <a:r>
              <a:t>using CacheRuntime requires the AdvancedStatefulSet (OpenKruise) controller.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2026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7999" y="1742400"/>
            <a:ext cx="3726000" cy="14904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5200" y="1774800"/>
            <a:ext cx="3564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50" b="1">
                <a:solidFill>
                  <a:srgbClr val="82B366"/>
                </a:solidFill>
                <a:latin typeface="PingFang SC"/>
              </a:defRPr>
            </a:pPr>
            <a:r>
              <a:t>Data Anyway · regardless of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09880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Generic Cache Runtime pluggable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400" y="231264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Full migration to AdvancedStatefulSet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400" y="252648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Zero-downtime runtime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400" y="274032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API upgrade to v1alpha2 +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400" y="295416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ThinRuntime productization (min privilege)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999" y="3427200"/>
            <a:ext cx="3726000" cy="1360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200" y="3459600"/>
            <a:ext cx="3564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50" b="1">
                <a:solidFill>
                  <a:srgbClr val="6C8EBF"/>
                </a:solidFill>
                <a:latin typeface="PingFang SC"/>
              </a:defRPr>
            </a:pPr>
            <a:r>
              <a:t>Data Anywhere · cross-region/cluster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378360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LLM KV Cache orchestration (vLLM/SGLang · Mooncake)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401688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Cross-pod KV cache migration &amp;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425016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Distributed prewarming + throttling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400" y="448344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Cross-region sync optimization</a:t>
            </a:r>
          </a:p>
        </p:txBody>
      </p:sp>
      <p:pic>
        <p:nvPicPr>
          <p:cNvPr id="16" name="Picture 15" descr="roadmap-2026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693" y="1296000"/>
            <a:ext cx="2188614" cy="345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2034000"/>
            <a:ext cx="97200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ingFang SC"/>
              </a:defRPr>
            </a:pPr>
            <a:r>
              <a:t>Get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2973600"/>
            <a:ext cx="9720000" cy="113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PingFang SC"/>
              </a:defRPr>
            </a:pPr>
            <a:r>
              <a:t>⭐  github.com/fluid-cloudnative/fluid</a:t>
            </a:r>
            <a:br/>
            <a:br/>
            <a:r>
              <a:t>💬  Open issues / PRs — bring your cache engine to the CacheRuntime ecosystem</a:t>
            </a:r>
            <a:br/>
            <a:br/>
            <a:r>
              <a:t>🙏  Thanks to the 125 contributors of this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5274000"/>
            <a:ext cx="9720000" cy="388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PingFang SC"/>
              </a:defRPr>
            </a:pPr>
            <a:r>
              <a:t>Fluid 1.1.0 · CNCF Incubating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