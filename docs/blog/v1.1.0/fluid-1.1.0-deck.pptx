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3D9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52000" y="1936800"/>
            <a:ext cx="9720000" cy="842400"/>
          </a:xfrm>
          <a:prstGeom prst="rect">
            <a:avLst/>
          </a:prstGeom>
          <a:noFill/>
        </p:spPr>
        <p:txBody>
          <a:bodyPr wrap="square" tIns="12700" bIns="12700" lIns="25400" rIns="25400" anchor="ctr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  <a:latin typeface="PingFang SC"/>
              </a:defRPr>
            </a:pPr>
            <a:r>
              <a:t>Fluid 1.1.0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52000" y="2908800"/>
            <a:ext cx="9720000" cy="518400"/>
          </a:xfrm>
          <a:prstGeom prst="rect">
            <a:avLst/>
          </a:prstGeom>
          <a:noFill/>
        </p:spPr>
        <p:txBody>
          <a:bodyPr wrap="square" tIns="12700" bIns="12700" lIns="25400" rIns="25400" anchor="ctr">
            <a:spAutoFit/>
          </a:bodyPr>
          <a:lstStyle/>
          <a:p>
            <a:pPr algn="ctr">
              <a:defRPr sz="2000" b="0">
                <a:solidFill>
                  <a:srgbClr val="FFFFFF"/>
                </a:solidFill>
                <a:latin typeface="PingFang SC"/>
              </a:defRPr>
            </a:pPr>
            <a:r>
              <a:t>CacheRuntime 通用缓存引擎框架 · 让任意缓存系统「零代码」接入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152000" y="3880800"/>
            <a:ext cx="7128000" cy="583200"/>
          </a:xfrm>
          <a:prstGeom prst="roundRect">
            <a:avLst/>
          </a:prstGeom>
          <a:solidFill>
            <a:srgbClr val="FFC107"/>
          </a:solidFill>
          <a:ln w="15240">
            <a:solidFill>
              <a:srgbClr val="D6B6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 lIns="50800" rIns="50800"/>
          <a:lstStyle/>
          <a:p>
            <a:pPr algn="ctr">
              <a:defRPr sz="1300" b="1">
                <a:solidFill>
                  <a:srgbClr val="1A1A1A"/>
                </a:solidFill>
                <a:latin typeface="PingFang SC"/>
              </a:defRPr>
            </a:pPr>
            <a:r>
              <a:t>🎉 2026.01 · 正式晋升为 CNCF 孵化 (Incubating) 项目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52000" y="5565600"/>
            <a:ext cx="9720000" cy="324000"/>
          </a:xfrm>
          <a:prstGeom prst="rect">
            <a:avLst/>
          </a:prstGeom>
          <a:noFill/>
        </p:spPr>
        <p:txBody>
          <a:bodyPr wrap="square" tIns="12700" bIns="12700" lIns="25400" rIns="25400" anchor="ctr">
            <a:spAutoFit/>
          </a:bodyPr>
          <a:lstStyle/>
          <a:p>
            <a:pPr algn="ctr">
              <a:defRPr sz="1200" b="0">
                <a:solidFill>
                  <a:srgbClr val="C7D6F5"/>
                </a:solidFill>
                <a:latin typeface="PingFang SC"/>
              </a:defRPr>
            </a:pPr>
            <a:r>
              <a:t>CNCF Cloud Native Data Orchestration · github.com/fluid-cloudnative/fluid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20000" y="144000"/>
            <a:ext cx="10728000" cy="503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900" b="1">
                <a:solidFill>
                  <a:srgbClr val="333333"/>
                </a:solidFill>
                <a:latin typeface="PingFang SC"/>
              </a:defRPr>
            </a:pPr>
            <a:r>
              <a:t>版本速览 · 自 v1.0.8 (2025.10) 起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66000" y="2034000"/>
            <a:ext cx="2332800" cy="1360800"/>
          </a:xfrm>
          <a:prstGeom prst="roundRect">
            <a:avLst/>
          </a:prstGeom>
          <a:solidFill>
            <a:srgbClr val="DAE8FC"/>
          </a:solidFill>
          <a:ln w="15240">
            <a:solidFill>
              <a:srgbClr val="6C8E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66000" y="2196000"/>
            <a:ext cx="2332800" cy="648000"/>
          </a:xfrm>
          <a:prstGeom prst="rect">
            <a:avLst/>
          </a:prstGeom>
          <a:noFill/>
        </p:spPr>
        <p:txBody>
          <a:bodyPr wrap="square" tIns="12700" bIns="12700" lIns="25400" rIns="25400" anchor="ctr">
            <a:spAutoFit/>
          </a:bodyPr>
          <a:lstStyle/>
          <a:p>
            <a:pPr algn="ctr">
              <a:defRPr sz="4000" b="1">
                <a:solidFill>
                  <a:srgbClr val="6C8EBF"/>
                </a:solidFill>
                <a:latin typeface="PingFang SC"/>
              </a:defRPr>
            </a:pPr>
            <a:r>
              <a:t>485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6000" y="2876400"/>
            <a:ext cx="2332800" cy="324000"/>
          </a:xfrm>
          <a:prstGeom prst="rect">
            <a:avLst/>
          </a:prstGeom>
          <a:noFill/>
        </p:spPr>
        <p:txBody>
          <a:bodyPr wrap="square" tIns="12700" bIns="12700" lIns="25400" rIns="25400" anchor="ctr">
            <a:spAutoFit/>
          </a:bodyPr>
          <a:lstStyle/>
          <a:p>
            <a:pPr algn="ctr">
              <a:defRPr sz="1400" b="1">
                <a:solidFill>
                  <a:srgbClr val="333333"/>
                </a:solidFill>
                <a:latin typeface="PingFang SC"/>
              </a:defRPr>
            </a:pPr>
            <a:r>
              <a:t>Commits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52400" y="2034000"/>
            <a:ext cx="2332800" cy="1360800"/>
          </a:xfrm>
          <a:prstGeom prst="roundRect">
            <a:avLst/>
          </a:prstGeom>
          <a:solidFill>
            <a:srgbClr val="D5E8D4"/>
          </a:solidFill>
          <a:ln w="15240">
            <a:solidFill>
              <a:srgbClr val="82B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452400" y="2196000"/>
            <a:ext cx="2332800" cy="648000"/>
          </a:xfrm>
          <a:prstGeom prst="rect">
            <a:avLst/>
          </a:prstGeom>
          <a:noFill/>
        </p:spPr>
        <p:txBody>
          <a:bodyPr wrap="square" tIns="12700" bIns="12700" lIns="25400" rIns="25400" anchor="ctr">
            <a:spAutoFit/>
          </a:bodyPr>
          <a:lstStyle/>
          <a:p>
            <a:pPr algn="ctr">
              <a:defRPr sz="4000" b="1">
                <a:solidFill>
                  <a:srgbClr val="82B366"/>
                </a:solidFill>
                <a:latin typeface="PingFang SC"/>
              </a:defRPr>
            </a:pPr>
            <a:r>
              <a:t>487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52400" y="2876400"/>
            <a:ext cx="2332800" cy="324000"/>
          </a:xfrm>
          <a:prstGeom prst="rect">
            <a:avLst/>
          </a:prstGeom>
          <a:noFill/>
        </p:spPr>
        <p:txBody>
          <a:bodyPr wrap="square" tIns="12700" bIns="12700" lIns="25400" rIns="25400" anchor="ctr">
            <a:spAutoFit/>
          </a:bodyPr>
          <a:lstStyle/>
          <a:p>
            <a:pPr algn="ctr">
              <a:defRPr sz="1400" b="1">
                <a:solidFill>
                  <a:srgbClr val="333333"/>
                </a:solidFill>
                <a:latin typeface="PingFang SC"/>
              </a:defRPr>
            </a:pPr>
            <a:r>
              <a:t>Pull Requests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38799" y="2034000"/>
            <a:ext cx="2332800" cy="1360800"/>
          </a:xfrm>
          <a:prstGeom prst="roundRect">
            <a:avLst/>
          </a:prstGeom>
          <a:solidFill>
            <a:srgbClr val="FFE6CC"/>
          </a:solidFill>
          <a:ln w="15240">
            <a:solidFill>
              <a:srgbClr val="D79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38799" y="2196000"/>
            <a:ext cx="2332800" cy="648000"/>
          </a:xfrm>
          <a:prstGeom prst="rect">
            <a:avLst/>
          </a:prstGeom>
          <a:noFill/>
        </p:spPr>
        <p:txBody>
          <a:bodyPr wrap="square" tIns="12700" bIns="12700" lIns="25400" rIns="25400" anchor="ctr">
            <a:spAutoFit/>
          </a:bodyPr>
          <a:lstStyle/>
          <a:p>
            <a:pPr algn="ctr">
              <a:defRPr sz="4000" b="1">
                <a:solidFill>
                  <a:srgbClr val="D79B00"/>
                </a:solidFill>
                <a:latin typeface="PingFang SC"/>
              </a:defRPr>
            </a:pPr>
            <a:r>
              <a:t>125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38799" y="2876400"/>
            <a:ext cx="2332800" cy="324000"/>
          </a:xfrm>
          <a:prstGeom prst="rect">
            <a:avLst/>
          </a:prstGeom>
          <a:noFill/>
        </p:spPr>
        <p:txBody>
          <a:bodyPr wrap="square" tIns="12700" bIns="12700" lIns="25400" rIns="25400" anchor="ctr">
            <a:spAutoFit/>
          </a:bodyPr>
          <a:lstStyle/>
          <a:p>
            <a:pPr algn="ctr">
              <a:defRPr sz="1400" b="1">
                <a:solidFill>
                  <a:srgbClr val="333333"/>
                </a:solidFill>
                <a:latin typeface="PingFang SC"/>
              </a:defRPr>
            </a:pPr>
            <a:r>
              <a:t>Contributors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025199" y="2034000"/>
            <a:ext cx="2332800" cy="1360800"/>
          </a:xfrm>
          <a:prstGeom prst="roundRect">
            <a:avLst/>
          </a:prstGeom>
          <a:solidFill>
            <a:srgbClr val="E1D5E7"/>
          </a:solidFill>
          <a:ln w="15240">
            <a:solidFill>
              <a:srgbClr val="9673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025199" y="2196000"/>
            <a:ext cx="2332800" cy="648000"/>
          </a:xfrm>
          <a:prstGeom prst="rect">
            <a:avLst/>
          </a:prstGeom>
          <a:noFill/>
        </p:spPr>
        <p:txBody>
          <a:bodyPr wrap="square" tIns="12700" bIns="12700" lIns="25400" rIns="25400" anchor="ctr">
            <a:spAutoFit/>
          </a:bodyPr>
          <a:lstStyle/>
          <a:p>
            <a:pPr algn="ctr">
              <a:defRPr sz="4000" b="1">
                <a:solidFill>
                  <a:srgbClr val="9673A6"/>
                </a:solidFill>
                <a:latin typeface="PingFang SC"/>
              </a:defRPr>
            </a:pPr>
            <a:r>
              <a:t>~9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25199" y="2876400"/>
            <a:ext cx="2332800" cy="324000"/>
          </a:xfrm>
          <a:prstGeom prst="rect">
            <a:avLst/>
          </a:prstGeom>
          <a:noFill/>
        </p:spPr>
        <p:txBody>
          <a:bodyPr wrap="square" tIns="12700" bIns="12700" lIns="25400" rIns="25400" anchor="ctr">
            <a:spAutoFit/>
          </a:bodyPr>
          <a:lstStyle/>
          <a:p>
            <a:pPr algn="ctr">
              <a:defRPr sz="1400" b="1">
                <a:solidFill>
                  <a:srgbClr val="333333"/>
                </a:solidFill>
                <a:latin typeface="PingFang SC"/>
              </a:defRPr>
            </a:pPr>
            <a:r>
              <a:t>个月迭代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52000" y="3816000"/>
            <a:ext cx="9720000" cy="388800"/>
          </a:xfrm>
          <a:prstGeom prst="rect">
            <a:avLst/>
          </a:prstGeom>
          <a:noFill/>
        </p:spPr>
        <p:txBody>
          <a:bodyPr wrap="square" tIns="12700" bIns="12700" lIns="25400" rIns="25400" anchor="ctr">
            <a:spAutoFit/>
          </a:bodyPr>
          <a:lstStyle/>
          <a:p>
            <a:pPr algn="ctr">
              <a:defRPr sz="1500" b="1">
                <a:solidFill>
                  <a:srgbClr val="333333"/>
                </a:solidFill>
                <a:latin typeface="PingFang SC"/>
              </a:defRPr>
            </a:pPr>
            <a:r>
              <a:t>一次架构级跃迁：从「为每种缓存系统写一个控制器」到「用一份模板接入任意缓存系统」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52000" y="4334400"/>
            <a:ext cx="9720000" cy="324000"/>
          </a:xfrm>
          <a:prstGeom prst="rect">
            <a:avLst/>
          </a:prstGeom>
          <a:noFill/>
        </p:spPr>
        <p:txBody>
          <a:bodyPr wrap="square" tIns="12700" bIns="12700" lIns="25400" rIns="25400" anchor="ctr">
            <a:spAutoFit/>
          </a:bodyPr>
          <a:lstStyle/>
          <a:p>
            <a:pPr algn="ctr">
              <a:defRPr sz="1200" b="0">
                <a:solidFill>
                  <a:srgbClr val="666666"/>
                </a:solidFill>
                <a:latin typeface="PingFang SC"/>
              </a:defRPr>
            </a:pPr>
            <a:r>
              <a:t>v1.0.8 (2025-10-30)  →  v1.1.0 (2026-07)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20000" y="144000"/>
            <a:ext cx="10728000" cy="503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900" b="1">
                <a:solidFill>
                  <a:srgbClr val="333333"/>
                </a:solidFill>
                <a:latin typeface="PingFang SC"/>
              </a:defRPr>
            </a:pPr>
            <a:r>
              <a:t>旗舰特性：CacheRuntime 通用缓存引擎框架</a:t>
            </a:r>
          </a:p>
        </p:txBody>
      </p:sp>
      <p:pic>
        <p:nvPicPr>
          <p:cNvPr id="3" name="Picture 2" descr="cacheruntime-arch-landscap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6059" y="1440000"/>
            <a:ext cx="11340000" cy="225642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152000" y="4161985"/>
            <a:ext cx="9720000" cy="518400"/>
          </a:xfrm>
          <a:prstGeom prst="rect">
            <a:avLst/>
          </a:prstGeom>
          <a:noFill/>
        </p:spPr>
        <p:txBody>
          <a:bodyPr wrap="square" tIns="12700" bIns="12700" lIns="25400" rIns="25400" anchor="ctr">
            <a:spAutoFit/>
          </a:bodyPr>
          <a:lstStyle/>
          <a:p>
            <a:pPr algn="ctr">
              <a:defRPr sz="1300" b="1">
                <a:solidFill>
                  <a:srgbClr val="333333"/>
                </a:solidFill>
                <a:latin typeface="PingFang SC"/>
              </a:defRPr>
            </a:pPr>
            <a:r>
              <a:t>CacheRuntimeClass(引擎方模板) + CacheRuntime(使用方实例) + Dataset → Controller → Master / Worker / Client。</a:t>
            </a:r>
            <a:br/>
            <a:r>
              <a:t>把「接入一个缓存引擎」从「写一个 Go 控制器」降维成「填一份 YAML 模板」。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20000" y="144000"/>
            <a:ext cx="10728000" cy="503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900" b="1">
                <a:solidFill>
                  <a:srgbClr val="333333"/>
                </a:solidFill>
                <a:latin typeface="PingFang SC"/>
              </a:defRPr>
            </a:pPr>
            <a:r>
              <a:t>CacheRuntime · 核心能力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60400" y="1677600"/>
            <a:ext cx="4924800" cy="1036800"/>
          </a:xfrm>
          <a:prstGeom prst="roundRect">
            <a:avLst/>
          </a:prstGeom>
          <a:solidFill>
            <a:srgbClr val="DAE8FC"/>
          </a:solidFill>
          <a:ln w="15240">
            <a:solidFill>
              <a:srgbClr val="6C8E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22400" y="1774800"/>
            <a:ext cx="4600800" cy="291600"/>
          </a:xfrm>
          <a:prstGeom prst="rect">
            <a:avLst/>
          </a:prstGeom>
          <a:noFill/>
        </p:spPr>
        <p:txBody>
          <a:bodyPr wrap="square" tIns="12700" bIns="12700" lIns="25400" rIns="25400" anchor="ctr">
            <a:spAutoFit/>
          </a:bodyPr>
          <a:lstStyle/>
          <a:p>
            <a:pPr algn="l">
              <a:defRPr sz="1300" b="1">
                <a:solidFill>
                  <a:srgbClr val="6C8EBF"/>
                </a:solidFill>
                <a:latin typeface="PingFang SC"/>
              </a:defRPr>
            </a:pPr>
            <a:r>
              <a:t>● 声明式可插拔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2400" y="2115000"/>
            <a:ext cx="4600800" cy="518400"/>
          </a:xfrm>
          <a:prstGeom prst="rect">
            <a:avLst/>
          </a:prstGeom>
          <a:noFill/>
        </p:spPr>
        <p:txBody>
          <a:bodyPr wrap="square" tIns="12700" bIns="12700" lIns="25400" rIns="25400" anchor="ctr">
            <a:spAutoFit/>
          </a:bodyPr>
          <a:lstStyle/>
          <a:p>
            <a:pPr algn="l">
              <a:defRPr sz="1050" b="0">
                <a:solidFill>
                  <a:srgbClr val="333333"/>
                </a:solidFill>
                <a:latin typeface="PingFang SC"/>
              </a:defRPr>
            </a:pPr>
            <a:r>
              <a:t>两个新 CRD：CacheRuntimeClass(模板) + CacheRuntime(实例)，无需编写控制器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38799" y="1677600"/>
            <a:ext cx="4924800" cy="1036800"/>
          </a:xfrm>
          <a:prstGeom prst="roundRect">
            <a:avLst/>
          </a:prstGeom>
          <a:solidFill>
            <a:srgbClr val="D5E8D4"/>
          </a:solidFill>
          <a:ln w="15240">
            <a:solidFill>
              <a:srgbClr val="82B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799" y="1774800"/>
            <a:ext cx="4600800" cy="291600"/>
          </a:xfrm>
          <a:prstGeom prst="rect">
            <a:avLst/>
          </a:prstGeom>
          <a:noFill/>
        </p:spPr>
        <p:txBody>
          <a:bodyPr wrap="square" tIns="12700" bIns="12700" lIns="25400" rIns="25400" anchor="ctr">
            <a:spAutoFit/>
          </a:bodyPr>
          <a:lstStyle/>
          <a:p>
            <a:pPr algn="l">
              <a:defRPr sz="1300" b="1">
                <a:solidFill>
                  <a:srgbClr val="82B366"/>
                </a:solidFill>
                <a:latin typeface="PingFang SC"/>
              </a:defRPr>
            </a:pPr>
            <a:r>
              <a:t>● 多拓扑内建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799" y="2115000"/>
            <a:ext cx="4600800" cy="518400"/>
          </a:xfrm>
          <a:prstGeom prst="rect">
            <a:avLst/>
          </a:prstGeom>
          <a:noFill/>
        </p:spPr>
        <p:txBody>
          <a:bodyPr wrap="square" tIns="12700" bIns="12700" lIns="25400" rIns="25400" anchor="ctr">
            <a:spAutoFit/>
          </a:bodyPr>
          <a:lstStyle/>
          <a:p>
            <a:pPr algn="l">
              <a:defRPr sz="1050" b="0">
                <a:solidFill>
                  <a:srgbClr val="333333"/>
                </a:solidFill>
                <a:latin typeface="PingFang SC"/>
              </a:defRPr>
            </a:pPr>
            <a:r>
              <a:t>MasterSlave / P2P·DHT / ClientOnly，覆盖主流缓存架构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0400" y="3006000"/>
            <a:ext cx="4924800" cy="1036800"/>
          </a:xfrm>
          <a:prstGeom prst="roundRect">
            <a:avLst/>
          </a:prstGeom>
          <a:solidFill>
            <a:srgbClr val="D5E8D4"/>
          </a:solidFill>
          <a:ln w="15240">
            <a:solidFill>
              <a:srgbClr val="82B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22400" y="3103199"/>
            <a:ext cx="4600800" cy="291600"/>
          </a:xfrm>
          <a:prstGeom prst="rect">
            <a:avLst/>
          </a:prstGeom>
          <a:noFill/>
        </p:spPr>
        <p:txBody>
          <a:bodyPr wrap="square" tIns="12700" bIns="12700" lIns="25400" rIns="25400" anchor="ctr">
            <a:spAutoFit/>
          </a:bodyPr>
          <a:lstStyle/>
          <a:p>
            <a:pPr algn="l">
              <a:defRPr sz="1300" b="1">
                <a:solidFill>
                  <a:srgbClr val="82B366"/>
                </a:solidFill>
                <a:latin typeface="PingFang SC"/>
              </a:defRPr>
            </a:pPr>
            <a:r>
              <a:t>● 分层存储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2400" y="3443400"/>
            <a:ext cx="4600800" cy="518400"/>
          </a:xfrm>
          <a:prstGeom prst="rect">
            <a:avLst/>
          </a:prstGeom>
          <a:noFill/>
        </p:spPr>
        <p:txBody>
          <a:bodyPr wrap="square" tIns="12700" bIns="12700" lIns="25400" rIns="25400" anchor="ctr">
            <a:spAutoFit/>
          </a:bodyPr>
          <a:lstStyle/>
          <a:p>
            <a:pPr algn="l">
              <a:defRPr sz="1050" b="0">
                <a:solidFill>
                  <a:srgbClr val="333333"/>
                </a:solidFill>
                <a:latin typeface="PingFang SC"/>
              </a:defRPr>
            </a:pPr>
            <a:r>
              <a:t>Worker 与 Client 均支持 Mem / SSD / HDD 多级缓存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38799" y="3006000"/>
            <a:ext cx="4924800" cy="1036800"/>
          </a:xfrm>
          <a:prstGeom prst="roundRect">
            <a:avLst/>
          </a:prstGeom>
          <a:solidFill>
            <a:srgbClr val="E1D5E7"/>
          </a:solidFill>
          <a:ln w="15240">
            <a:solidFill>
              <a:srgbClr val="9673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799" y="3103199"/>
            <a:ext cx="4600800" cy="291600"/>
          </a:xfrm>
          <a:prstGeom prst="rect">
            <a:avLst/>
          </a:prstGeom>
          <a:noFill/>
        </p:spPr>
        <p:txBody>
          <a:bodyPr wrap="square" tIns="12700" bIns="12700" lIns="25400" rIns="25400" anchor="ctr">
            <a:spAutoFit/>
          </a:bodyPr>
          <a:lstStyle/>
          <a:p>
            <a:pPr algn="l">
              <a:defRPr sz="1300" b="1">
                <a:solidFill>
                  <a:srgbClr val="9673A6"/>
                </a:solidFill>
                <a:latin typeface="PingFang SC"/>
              </a:defRPr>
            </a:pPr>
            <a:r>
              <a:t>● 原地升级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799" y="3443400"/>
            <a:ext cx="4600800" cy="518400"/>
          </a:xfrm>
          <a:prstGeom prst="rect">
            <a:avLst/>
          </a:prstGeom>
          <a:noFill/>
        </p:spPr>
        <p:txBody>
          <a:bodyPr wrap="square" tIns="12700" bIns="12700" lIns="25400" rIns="25400" anchor="ctr">
            <a:spAutoFit/>
          </a:bodyPr>
          <a:lstStyle/>
          <a:p>
            <a:pPr algn="l">
              <a:defRPr sz="1050" b="0">
                <a:solidFill>
                  <a:srgbClr val="333333"/>
                </a:solidFill>
                <a:latin typeface="PingFang SC"/>
              </a:defRPr>
            </a:pPr>
            <a:r>
              <a:t>基于 AdvancedStatefulSet，镜像变更原地滚动，减少缓存重建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60400" y="4334400"/>
            <a:ext cx="4924800" cy="1036800"/>
          </a:xfrm>
          <a:prstGeom prst="roundRect">
            <a:avLst/>
          </a:prstGeom>
          <a:solidFill>
            <a:srgbClr val="FFE6CC"/>
          </a:solidFill>
          <a:ln w="15240">
            <a:solidFill>
              <a:srgbClr val="D79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22400" y="4431600"/>
            <a:ext cx="4600800" cy="291600"/>
          </a:xfrm>
          <a:prstGeom prst="rect">
            <a:avLst/>
          </a:prstGeom>
          <a:noFill/>
        </p:spPr>
        <p:txBody>
          <a:bodyPr wrap="square" tIns="12700" bIns="12700" lIns="25400" rIns="25400" anchor="ctr">
            <a:spAutoFit/>
          </a:bodyPr>
          <a:lstStyle/>
          <a:p>
            <a:pPr algn="l">
              <a:defRPr sz="1300" b="1">
                <a:solidFill>
                  <a:srgbClr val="D79B00"/>
                </a:solidFill>
                <a:latin typeface="PingFang SC"/>
              </a:defRPr>
            </a:pPr>
            <a:r>
              <a:t>● 数据流打通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22400" y="4771800"/>
            <a:ext cx="4600800" cy="518400"/>
          </a:xfrm>
          <a:prstGeom prst="rect">
            <a:avLst/>
          </a:prstGeom>
          <a:noFill/>
        </p:spPr>
        <p:txBody>
          <a:bodyPr wrap="square" tIns="12700" bIns="12700" lIns="25400" rIns="25400" anchor="ctr">
            <a:spAutoFit/>
          </a:bodyPr>
          <a:lstStyle/>
          <a:p>
            <a:pPr algn="l">
              <a:defRPr sz="1050" b="0">
                <a:solidFill>
                  <a:srgbClr val="333333"/>
                </a:solidFill>
                <a:latin typeface="PingFang SC"/>
              </a:defRPr>
            </a:pPr>
            <a:r>
              <a:t>原生对接 DataLoad / DataProcess 预热与处理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38799" y="4334400"/>
            <a:ext cx="4924800" cy="1036800"/>
          </a:xfrm>
          <a:prstGeom prst="roundRect">
            <a:avLst/>
          </a:prstGeom>
          <a:solidFill>
            <a:srgbClr val="FFF2CC"/>
          </a:solidFill>
          <a:ln w="15240">
            <a:solidFill>
              <a:srgbClr val="D6B6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799" y="4431600"/>
            <a:ext cx="4600800" cy="291600"/>
          </a:xfrm>
          <a:prstGeom prst="rect">
            <a:avLst/>
          </a:prstGeom>
          <a:noFill/>
        </p:spPr>
        <p:txBody>
          <a:bodyPr wrap="square" tIns="12700" bIns="12700" lIns="25400" rIns="25400" anchor="ctr">
            <a:spAutoFit/>
          </a:bodyPr>
          <a:lstStyle/>
          <a:p>
            <a:pPr algn="l">
              <a:defRPr sz="1300" b="1">
                <a:solidFill>
                  <a:srgbClr val="D6B656"/>
                </a:solidFill>
                <a:latin typeface="PingFang SC"/>
              </a:defRPr>
            </a:pPr>
            <a:r>
              <a:t>● 动态挂载与自愈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799" y="4771800"/>
            <a:ext cx="4600800" cy="518400"/>
          </a:xfrm>
          <a:prstGeom prst="rect">
            <a:avLst/>
          </a:prstGeom>
          <a:noFill/>
        </p:spPr>
        <p:txBody>
          <a:bodyPr wrap="square" tIns="12700" bIns="12700" lIns="25400" rIns="25400" anchor="ctr">
            <a:spAutoFit/>
          </a:bodyPr>
          <a:lstStyle/>
          <a:p>
            <a:pPr algn="l">
              <a:defRPr sz="1050" b="0">
                <a:solidFill>
                  <a:srgbClr val="333333"/>
                </a:solidFill>
                <a:latin typeface="PingFang SC"/>
              </a:defRPr>
            </a:pPr>
            <a:r>
              <a:t>挂载点变更/Master 重启自动重挂；缓存状态实时回填 Dataset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20000" y="144000"/>
            <a:ext cx="10728000" cy="503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900" b="1">
                <a:solidFill>
                  <a:srgbClr val="333333"/>
                </a:solidFill>
                <a:latin typeface="PingFang SC"/>
              </a:defRPr>
            </a:pPr>
            <a:r>
              <a:t>首发引擎：Curvine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152000" y="1677600"/>
            <a:ext cx="9720000" cy="712800"/>
          </a:xfrm>
          <a:prstGeom prst="roundRect">
            <a:avLst/>
          </a:prstGeom>
          <a:solidFill>
            <a:srgbClr val="D5E8D4"/>
          </a:solidFill>
          <a:ln w="15240">
            <a:solidFill>
              <a:srgbClr val="82B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 lIns="50800" rIns="50800"/>
          <a:lstStyle/>
          <a:p>
            <a:pPr algn="ctr">
              <a:defRPr sz="1400" b="1">
                <a:solidFill>
                  <a:srgbClr val="333333"/>
                </a:solidFill>
                <a:latin typeface="PingFang SC"/>
              </a:defRPr>
            </a:pPr>
            <a:r>
              <a:t>Curvine — 基于 Rust 的高性能云原生分布式缓存系统，CacheRuntime 框架的首个完整落地引擎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75999" y="2649600"/>
            <a:ext cx="9072000" cy="356400"/>
          </a:xfrm>
          <a:prstGeom prst="rect">
            <a:avLst/>
          </a:prstGeom>
          <a:noFill/>
        </p:spPr>
        <p:txBody>
          <a:bodyPr wrap="square" tIns="12700" bIns="12700" lIns="25400" rIns="25400" anchor="ctr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PingFang SC"/>
              </a:defRPr>
            </a:pPr>
            <a:r>
              <a:t>✓  Master / Worker 架构，Raft 保障元数据高可用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75999" y="3054600"/>
            <a:ext cx="9072000" cy="356400"/>
          </a:xfrm>
          <a:prstGeom prst="rect">
            <a:avLst/>
          </a:prstGeom>
          <a:noFill/>
        </p:spPr>
        <p:txBody>
          <a:bodyPr wrap="square" tIns="12700" bIns="12700" lIns="25400" rIns="25400" anchor="ctr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PingFang SC"/>
              </a:defRPr>
            </a:pPr>
            <a:r>
              <a:t>✓  多级缓存：内存 / SSD / HDD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75999" y="3459600"/>
            <a:ext cx="9072000" cy="356400"/>
          </a:xfrm>
          <a:prstGeom prst="rect">
            <a:avLst/>
          </a:prstGeom>
          <a:noFill/>
        </p:spPr>
        <p:txBody>
          <a:bodyPr wrap="square" tIns="12700" bIns="12700" lIns="25400" rIns="25400" anchor="ctr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PingFang SC"/>
              </a:defRPr>
            </a:pPr>
            <a:r>
              <a:t>✓  FUSE 提供 POSIX 兼容访问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75999" y="3864600"/>
            <a:ext cx="9072000" cy="356400"/>
          </a:xfrm>
          <a:prstGeom prst="rect">
            <a:avLst/>
          </a:prstGeom>
          <a:noFill/>
        </p:spPr>
        <p:txBody>
          <a:bodyPr wrap="square" tIns="12700" bIns="12700" lIns="25400" rIns="25400" anchor="ctr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PingFang SC"/>
              </a:defRPr>
            </a:pPr>
            <a:r>
              <a:t>✓  兼容 S3 / HDFS / OSS / MinIO 等底层存储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75999" y="4269600"/>
            <a:ext cx="9072000" cy="356400"/>
          </a:xfrm>
          <a:prstGeom prst="rect">
            <a:avLst/>
          </a:prstGeom>
          <a:noFill/>
        </p:spPr>
        <p:txBody>
          <a:bodyPr wrap="square" tIns="12700" bIns="12700" lIns="25400" rIns="25400" anchor="ctr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PingFang SC"/>
              </a:defRPr>
            </a:pPr>
            <a:r>
              <a:t>✓  据社区基准：相同硬件下读吞吐优于开源版 Alluxio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75999" y="4674600"/>
            <a:ext cx="9072000" cy="356400"/>
          </a:xfrm>
          <a:prstGeom prst="rect">
            <a:avLst/>
          </a:prstGeom>
          <a:noFill/>
        </p:spPr>
        <p:txBody>
          <a:bodyPr wrap="square" tIns="12700" bIns="12700" lIns="25400" rIns="25400" anchor="ctr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PingFang SC"/>
              </a:defRPr>
            </a:pPr>
            <a:r>
              <a:t>✓  通过 CacheRuntime，几行 YAML 即可拉起一套缓存集群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20000" y="144000"/>
            <a:ext cx="10728000" cy="503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900" b="1">
                <a:solidFill>
                  <a:srgbClr val="333333"/>
                </a:solidFill>
                <a:latin typeface="PingFang SC"/>
              </a:defRPr>
            </a:pPr>
            <a:r>
              <a:t>面向 AI 场景的数据加速</a:t>
            </a:r>
          </a:p>
        </p:txBody>
      </p:sp>
      <p:pic>
        <p:nvPicPr>
          <p:cNvPr id="3" name="Picture 2" descr="ai-data-pipeline-z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6059" y="1620000"/>
            <a:ext cx="11340000" cy="1894821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152000" y="4063339"/>
            <a:ext cx="9720000" cy="518400"/>
          </a:xfrm>
          <a:prstGeom prst="rect">
            <a:avLst/>
          </a:prstGeom>
          <a:noFill/>
        </p:spPr>
        <p:txBody>
          <a:bodyPr wrap="square" tIns="12700" bIns="12700" lIns="25400" rIns="25400" anchor="ctr">
            <a:spAutoFit/>
          </a:bodyPr>
          <a:lstStyle/>
          <a:p>
            <a:pPr algn="ctr">
              <a:defRPr sz="1300" b="1">
                <a:solidFill>
                  <a:srgbClr val="333333"/>
                </a:solidFill>
                <a:latin typeface="PingFang SC"/>
              </a:defRPr>
            </a:pPr>
            <a:r>
              <a:t>模型权重 / 训练数据预热进缓存 → 缩短推理冷启动、提升带宽利用率；</a:t>
            </a:r>
            <a:br/>
            <a:r>
              <a:t>高性能存储(3FS 等)经 ThinRuntime 接入；KV Cache 外置为 2026 Roadmap 方向。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20000" y="144000"/>
            <a:ext cx="10728000" cy="503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900" b="1">
                <a:solidFill>
                  <a:srgbClr val="333333"/>
                </a:solidFill>
                <a:latin typeface="PingFang SC"/>
              </a:defRPr>
            </a:pPr>
            <a:r>
              <a:t>引擎与功能增强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76600" y="2034000"/>
            <a:ext cx="3078000" cy="1620000"/>
          </a:xfrm>
          <a:prstGeom prst="roundRect">
            <a:avLst/>
          </a:prstGeom>
          <a:solidFill>
            <a:srgbClr val="DAE8FC"/>
          </a:solidFill>
          <a:ln w="15240">
            <a:solidFill>
              <a:srgbClr val="6C8E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76600" y="2196000"/>
            <a:ext cx="3078000" cy="324000"/>
          </a:xfrm>
          <a:prstGeom prst="rect">
            <a:avLst/>
          </a:prstGeom>
          <a:noFill/>
        </p:spPr>
        <p:txBody>
          <a:bodyPr wrap="square" tIns="12700" bIns="12700" lIns="25400" rIns="25400" anchor="ctr">
            <a:spAutoFit/>
          </a:bodyPr>
          <a:lstStyle/>
          <a:p>
            <a:pPr algn="ctr">
              <a:defRPr sz="1500" b="1">
                <a:solidFill>
                  <a:srgbClr val="6C8EBF"/>
                </a:solidFill>
                <a:latin typeface="PingFang SC"/>
              </a:defRPr>
            </a:pPr>
            <a:r>
              <a:t>JindoCache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6600" y="2584800"/>
            <a:ext cx="3078000" cy="972000"/>
          </a:xfrm>
          <a:prstGeom prst="rect">
            <a:avLst/>
          </a:prstGeom>
          <a:noFill/>
        </p:spPr>
        <p:txBody>
          <a:bodyPr wrap="square" tIns="12700" bIns="12700" lIns="25400" rIns="25400" anchor="ctr">
            <a:spAutoFit/>
          </a:bodyPr>
          <a:lstStyle/>
          <a:p>
            <a:pPr algn="ctr">
              <a:defRPr sz="1200" b="0">
                <a:solidFill>
                  <a:srgbClr val="333333"/>
                </a:solidFill>
                <a:latin typeface="PingFang SC"/>
              </a:defRPr>
            </a:pPr>
            <a:r>
              <a:t>RDMA 支持</a:t>
            </a:r>
            <a:br/>
            <a:r>
              <a:t>释放高性能网络读带宽</a:t>
            </a:r>
            <a:br/>
            <a:r>
              <a:t>+ Master 崩溃自愈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73000" y="2034000"/>
            <a:ext cx="3078000" cy="1620000"/>
          </a:xfrm>
          <a:prstGeom prst="roundRect">
            <a:avLst/>
          </a:prstGeom>
          <a:solidFill>
            <a:srgbClr val="D5E8D4"/>
          </a:solidFill>
          <a:ln w="15240">
            <a:solidFill>
              <a:srgbClr val="82B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473000" y="2196000"/>
            <a:ext cx="3078000" cy="324000"/>
          </a:xfrm>
          <a:prstGeom prst="rect">
            <a:avLst/>
          </a:prstGeom>
          <a:noFill/>
        </p:spPr>
        <p:txBody>
          <a:bodyPr wrap="square" tIns="12700" bIns="12700" lIns="25400" rIns="25400" anchor="ctr">
            <a:spAutoFit/>
          </a:bodyPr>
          <a:lstStyle/>
          <a:p>
            <a:pPr algn="ctr">
              <a:defRPr sz="1500" b="1">
                <a:solidFill>
                  <a:srgbClr val="82B366"/>
                </a:solidFill>
                <a:latin typeface="PingFang SC"/>
              </a:defRPr>
            </a:pPr>
            <a:r>
              <a:t>JuiceFSRuntime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73000" y="2584800"/>
            <a:ext cx="3078000" cy="972000"/>
          </a:xfrm>
          <a:prstGeom prst="rect">
            <a:avLst/>
          </a:prstGeom>
          <a:noFill/>
        </p:spPr>
        <p:txBody>
          <a:bodyPr wrap="square" tIns="12700" bIns="12700" lIns="25400" rIns="25400" anchor="ctr">
            <a:spAutoFit/>
          </a:bodyPr>
          <a:lstStyle/>
          <a:p>
            <a:pPr algn="ctr">
              <a:defRPr sz="1200" b="0">
                <a:solidFill>
                  <a:srgbClr val="333333"/>
                </a:solidFill>
                <a:latin typeface="PingFang SC"/>
              </a:defRPr>
            </a:pPr>
            <a:r>
              <a:t>Worker</a:t>
            </a:r>
            <a:br/>
            <a:r>
              <a:t>volumeClaimTemplates</a:t>
            </a:r>
            <a:br/>
            <a:r>
              <a:t>更灵活的持久化存储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69400" y="2034000"/>
            <a:ext cx="3078000" cy="1620000"/>
          </a:xfrm>
          <a:prstGeom prst="roundRect">
            <a:avLst/>
          </a:prstGeom>
          <a:solidFill>
            <a:srgbClr val="FFE6CC"/>
          </a:solidFill>
          <a:ln w="15240">
            <a:solidFill>
              <a:srgbClr val="D79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69400" y="2196000"/>
            <a:ext cx="3078000" cy="324000"/>
          </a:xfrm>
          <a:prstGeom prst="rect">
            <a:avLst/>
          </a:prstGeom>
          <a:noFill/>
        </p:spPr>
        <p:txBody>
          <a:bodyPr wrap="square" tIns="12700" bIns="12700" lIns="25400" rIns="25400" anchor="ctr">
            <a:spAutoFit/>
          </a:bodyPr>
          <a:lstStyle/>
          <a:p>
            <a:pPr algn="ctr">
              <a:defRPr sz="1500" b="1">
                <a:solidFill>
                  <a:srgbClr val="D79B00"/>
                </a:solidFill>
                <a:latin typeface="PingFang SC"/>
              </a:defRPr>
            </a:pPr>
            <a:r>
              <a:t>DataProcess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69400" y="2584800"/>
            <a:ext cx="3078000" cy="972000"/>
          </a:xfrm>
          <a:prstGeom prst="rect">
            <a:avLst/>
          </a:prstGeom>
          <a:noFill/>
        </p:spPr>
        <p:txBody>
          <a:bodyPr wrap="square" tIns="12700" bIns="12700" lIns="25400" rIns="25400" anchor="ctr">
            <a:spAutoFit/>
          </a:bodyPr>
          <a:lstStyle/>
          <a:p>
            <a:pPr algn="ctr">
              <a:defRPr sz="1200" b="0">
                <a:solidFill>
                  <a:srgbClr val="333333"/>
                </a:solidFill>
                <a:latin typeface="PingFang SC"/>
              </a:defRPr>
            </a:pPr>
            <a:r>
              <a:t>Cron 定时触发</a:t>
            </a:r>
            <a:br/>
            <a:r>
              <a:t>+ OnEvent 事件触发</a:t>
            </a:r>
            <a:br/>
            <a:r>
              <a:t>融入自动化运维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52000" y="4075200"/>
            <a:ext cx="9720000" cy="453600"/>
          </a:xfrm>
          <a:prstGeom prst="rect">
            <a:avLst/>
          </a:prstGeom>
          <a:noFill/>
        </p:spPr>
        <p:txBody>
          <a:bodyPr wrap="square" tIns="12700" bIns="12700" lIns="25400" rIns="25400" anchor="ctr">
            <a:spAutoFit/>
          </a:bodyPr>
          <a:lstStyle/>
          <a:p>
            <a:pPr algn="ctr">
              <a:defRPr sz="1100" b="0">
                <a:solidFill>
                  <a:srgbClr val="666666"/>
                </a:solidFill>
                <a:latin typeface="PingFang SC"/>
              </a:defRPr>
            </a:pPr>
            <a:r>
              <a:t>此外：全局跳过 Runtime 同步开关 · Runtime Pod 支持更多资源名 · host PID 特性门控 · CSI 快取节点标签与恢复循环 · Jindo 多挂载 OSS Secret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20000" y="144000"/>
            <a:ext cx="10728000" cy="503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900" b="1">
                <a:solidFill>
                  <a:srgbClr val="333333"/>
                </a:solidFill>
                <a:latin typeface="PingFang SC"/>
              </a:defRPr>
            </a:pPr>
            <a:r>
              <a:t>稳定性与安全加固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27999" y="1677600"/>
            <a:ext cx="5022000" cy="3240000"/>
          </a:xfrm>
          <a:prstGeom prst="roundRect">
            <a:avLst/>
          </a:prstGeom>
          <a:solidFill>
            <a:srgbClr val="D5E8D4"/>
          </a:solidFill>
          <a:ln w="15240">
            <a:solidFill>
              <a:srgbClr val="82B366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7999" y="1742400"/>
            <a:ext cx="5022000" cy="291600"/>
          </a:xfrm>
          <a:prstGeom prst="rect">
            <a:avLst/>
          </a:prstGeom>
          <a:noFill/>
        </p:spPr>
        <p:txBody>
          <a:bodyPr wrap="square" tIns="12700" bIns="12700" lIns="25400" rIns="25400" anchor="ctr">
            <a:spAutoFit/>
          </a:bodyPr>
          <a:lstStyle/>
          <a:p>
            <a:pPr algn="ctr">
              <a:defRPr sz="1400" b="1">
                <a:solidFill>
                  <a:srgbClr val="82B366"/>
                </a:solidFill>
                <a:latin typeface="PingFang SC"/>
              </a:defRPr>
            </a:pPr>
            <a:r>
              <a:t>稳定性与工程质量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2400" y="2131200"/>
            <a:ext cx="4698000" cy="356400"/>
          </a:xfrm>
          <a:prstGeom prst="rect">
            <a:avLst/>
          </a:prstGeom>
          <a:noFill/>
        </p:spPr>
        <p:txBody>
          <a:bodyPr wrap="square" tIns="12700" bIns="12700" lIns="25400" rIns="25400" anchor="ctr">
            <a:spAutoFit/>
          </a:bodyPr>
          <a:lstStyle/>
          <a:p>
            <a:pPr algn="l">
              <a:defRPr sz="1150" b="0">
                <a:solidFill>
                  <a:srgbClr val="333333"/>
                </a:solidFill>
                <a:latin typeface="PingFang SC"/>
              </a:defRPr>
            </a:pPr>
            <a:r>
              <a:t>• 240+ 项测试与 E2E 改进（历史最大投入）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2400" y="2552400"/>
            <a:ext cx="4698000" cy="356400"/>
          </a:xfrm>
          <a:prstGeom prst="rect">
            <a:avLst/>
          </a:prstGeom>
          <a:noFill/>
        </p:spPr>
        <p:txBody>
          <a:bodyPr wrap="square" tIns="12700" bIns="12700" lIns="25400" rIns="25400" anchor="ctr">
            <a:spAutoFit/>
          </a:bodyPr>
          <a:lstStyle/>
          <a:p>
            <a:pPr algn="l">
              <a:defRPr sz="1150" b="0">
                <a:solidFill>
                  <a:srgbClr val="333333"/>
                </a:solidFill>
                <a:latin typeface="PingFang SC"/>
              </a:defRPr>
            </a:pPr>
            <a:r>
              <a:t>• 测试套件全面迁移 Ginkgo v2 + Gomega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2400" y="2973600"/>
            <a:ext cx="4698000" cy="356400"/>
          </a:xfrm>
          <a:prstGeom prst="rect">
            <a:avLst/>
          </a:prstGeom>
          <a:noFill/>
        </p:spPr>
        <p:txBody>
          <a:bodyPr wrap="square" tIns="12700" bIns="12700" lIns="25400" rIns="25400" anchor="ctr">
            <a:spAutoFit/>
          </a:bodyPr>
          <a:lstStyle/>
          <a:p>
            <a:pPr algn="l">
              <a:defRPr sz="1150" b="0">
                <a:solidFill>
                  <a:srgbClr val="333333"/>
                </a:solidFill>
                <a:latin typeface="PingFang SC"/>
              </a:defRPr>
            </a:pPr>
            <a:r>
              <a:t>• gohook → gomonkey 打桩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2400" y="3394800"/>
            <a:ext cx="4698000" cy="356400"/>
          </a:xfrm>
          <a:prstGeom prst="rect">
            <a:avLst/>
          </a:prstGeom>
          <a:noFill/>
        </p:spPr>
        <p:txBody>
          <a:bodyPr wrap="square" tIns="12700" bIns="12700" lIns="25400" rIns="25400" anchor="ctr">
            <a:spAutoFit/>
          </a:bodyPr>
          <a:lstStyle/>
          <a:p>
            <a:pPr algn="l">
              <a:defRPr sz="1150" b="0">
                <a:solidFill>
                  <a:srgbClr val="333333"/>
                </a:solidFill>
                <a:latin typeface="PingFang SC"/>
              </a:defRPr>
            </a:pPr>
            <a:r>
              <a:t>• 修复数据竞争、控制器 panic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2400" y="3816000"/>
            <a:ext cx="4698000" cy="356400"/>
          </a:xfrm>
          <a:prstGeom prst="rect">
            <a:avLst/>
          </a:prstGeom>
          <a:noFill/>
        </p:spPr>
        <p:txBody>
          <a:bodyPr wrap="square" tIns="12700" bIns="12700" lIns="25400" rIns="25400" anchor="ctr">
            <a:spAutoFit/>
          </a:bodyPr>
          <a:lstStyle/>
          <a:p>
            <a:pPr algn="l">
              <a:defRPr sz="1150" b="0">
                <a:solidFill>
                  <a:srgbClr val="333333"/>
                </a:solidFill>
                <a:latin typeface="PingFang SC"/>
              </a:defRPr>
            </a:pPr>
            <a:r>
              <a:t>• 关键路径冲突重试（UFS 状态 / Webhook）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2400" y="4237200"/>
            <a:ext cx="4698000" cy="356400"/>
          </a:xfrm>
          <a:prstGeom prst="rect">
            <a:avLst/>
          </a:prstGeom>
          <a:noFill/>
        </p:spPr>
        <p:txBody>
          <a:bodyPr wrap="square" tIns="12700" bIns="12700" lIns="25400" rIns="25400" anchor="ctr">
            <a:spAutoFit/>
          </a:bodyPr>
          <a:lstStyle/>
          <a:p>
            <a:pPr algn="l">
              <a:defRPr sz="1150" b="0">
                <a:solidFill>
                  <a:srgbClr val="333333"/>
                </a:solidFill>
                <a:latin typeface="PingFang SC"/>
              </a:defRPr>
            </a:pPr>
            <a:r>
              <a:t>• DataLoad/DataMigrate 正确 watch Job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3999" y="1677600"/>
            <a:ext cx="5022000" cy="3240000"/>
          </a:xfrm>
          <a:prstGeom prst="roundRect">
            <a:avLst/>
          </a:prstGeom>
          <a:solidFill>
            <a:srgbClr val="F8CECC"/>
          </a:solidFill>
          <a:ln w="15240">
            <a:solidFill>
              <a:srgbClr val="B85450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73999" y="1742400"/>
            <a:ext cx="5022000" cy="291600"/>
          </a:xfrm>
          <a:prstGeom prst="rect">
            <a:avLst/>
          </a:prstGeom>
          <a:noFill/>
        </p:spPr>
        <p:txBody>
          <a:bodyPr wrap="square" tIns="12700" bIns="12700" lIns="25400" rIns="25400" anchor="ctr">
            <a:spAutoFit/>
          </a:bodyPr>
          <a:lstStyle/>
          <a:p>
            <a:pPr algn="ctr">
              <a:defRPr sz="1400" b="1">
                <a:solidFill>
                  <a:srgbClr val="B85450"/>
                </a:solidFill>
                <a:latin typeface="PingFang SC"/>
              </a:defRPr>
            </a:pPr>
            <a:r>
              <a:t>安全加固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68400" y="2131200"/>
            <a:ext cx="4698000" cy="356400"/>
          </a:xfrm>
          <a:prstGeom prst="rect">
            <a:avLst/>
          </a:prstGeom>
          <a:noFill/>
        </p:spPr>
        <p:txBody>
          <a:bodyPr wrap="square" tIns="12700" bIns="12700" lIns="25400" rIns="25400" anchor="ctr">
            <a:spAutoFit/>
          </a:bodyPr>
          <a:lstStyle/>
          <a:p>
            <a:pPr algn="l">
              <a:defRPr sz="1150" b="0">
                <a:solidFill>
                  <a:srgbClr val="333333"/>
                </a:solidFill>
                <a:latin typeface="PingFang SC"/>
              </a:defRPr>
            </a:pPr>
            <a:r>
              <a:t>• 控制面最小权限 RBAC / ClusterRole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68400" y="2552400"/>
            <a:ext cx="4698000" cy="356400"/>
          </a:xfrm>
          <a:prstGeom prst="rect">
            <a:avLst/>
          </a:prstGeom>
          <a:noFill/>
        </p:spPr>
        <p:txBody>
          <a:bodyPr wrap="square" tIns="12700" bIns="12700" lIns="25400" rIns="25400" anchor="ctr">
            <a:spAutoFit/>
          </a:bodyPr>
          <a:lstStyle/>
          <a:p>
            <a:pPr algn="l">
              <a:defRPr sz="1150" b="0">
                <a:solidFill>
                  <a:srgbClr val="333333"/>
                </a:solidFill>
                <a:latin typeface="PingFang SC"/>
              </a:defRPr>
            </a:pPr>
            <a:r>
              <a:t>• GitHub Actions 权限全面收敛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68400" y="2973600"/>
            <a:ext cx="4698000" cy="356400"/>
          </a:xfrm>
          <a:prstGeom prst="rect">
            <a:avLst/>
          </a:prstGeom>
          <a:noFill/>
        </p:spPr>
        <p:txBody>
          <a:bodyPr wrap="square" tIns="12700" bIns="12700" lIns="25400" rIns="25400" anchor="ctr">
            <a:spAutoFit/>
          </a:bodyPr>
          <a:lstStyle/>
          <a:p>
            <a:pPr algn="l">
              <a:defRPr sz="1150" b="0">
                <a:solidFill>
                  <a:srgbClr val="333333"/>
                </a:solidFill>
                <a:latin typeface="PingFang SC"/>
              </a:defRPr>
            </a:pPr>
            <a:r>
              <a:t>• 修复 addons 路径注入风险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68400" y="3394800"/>
            <a:ext cx="4698000" cy="356400"/>
          </a:xfrm>
          <a:prstGeom prst="rect">
            <a:avLst/>
          </a:prstGeom>
          <a:noFill/>
        </p:spPr>
        <p:txBody>
          <a:bodyPr wrap="square" tIns="12700" bIns="12700" lIns="25400" rIns="25400" anchor="ctr">
            <a:spAutoFit/>
          </a:bodyPr>
          <a:lstStyle/>
          <a:p>
            <a:pPr algn="l">
              <a:defRPr sz="1150" b="0">
                <a:solidFill>
                  <a:srgbClr val="333333"/>
                </a:solidFill>
                <a:latin typeface="PingFang SC"/>
              </a:defRPr>
            </a:pPr>
            <a:r>
              <a:t>• 基础镜像升级至 alpine 3.23.3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68400" y="3816000"/>
            <a:ext cx="4698000" cy="356400"/>
          </a:xfrm>
          <a:prstGeom prst="rect">
            <a:avLst/>
          </a:prstGeom>
          <a:noFill/>
        </p:spPr>
        <p:txBody>
          <a:bodyPr wrap="square" tIns="12700" bIns="12700" lIns="25400" rIns="25400" anchor="ctr">
            <a:spAutoFit/>
          </a:bodyPr>
          <a:lstStyle/>
          <a:p>
            <a:pPr algn="l">
              <a:defRPr sz="1150" b="0">
                <a:solidFill>
                  <a:srgbClr val="333333"/>
                </a:solidFill>
                <a:latin typeface="PingFang SC"/>
              </a:defRPr>
            </a:pPr>
            <a:r>
              <a:t>• 移除仓库内置 Helm 二进制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68400" y="4237200"/>
            <a:ext cx="4698000" cy="356400"/>
          </a:xfrm>
          <a:prstGeom prst="rect">
            <a:avLst/>
          </a:prstGeom>
          <a:noFill/>
        </p:spPr>
        <p:txBody>
          <a:bodyPr wrap="square" tIns="12700" bIns="12700" lIns="25400" rIns="25400" anchor="ctr">
            <a:spAutoFit/>
          </a:bodyPr>
          <a:lstStyle/>
          <a:p>
            <a:pPr algn="l">
              <a:defRPr sz="1150" b="0">
                <a:solidFill>
                  <a:srgbClr val="333333"/>
                </a:solidFill>
                <a:latin typeface="PingFang SC"/>
              </a:defRPr>
            </a:pPr>
            <a:r>
              <a:t>• 移除硬编码 Asia/Shanghai 时区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20000" y="144000"/>
            <a:ext cx="10728000" cy="503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900" b="1">
                <a:solidFill>
                  <a:srgbClr val="333333"/>
                </a:solidFill>
                <a:latin typeface="PingFang SC"/>
              </a:defRPr>
            </a:pPr>
            <a:r>
              <a:t>弃用说明与升级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152000" y="1742400"/>
            <a:ext cx="9720000" cy="712800"/>
          </a:xfrm>
          <a:prstGeom prst="roundRect">
            <a:avLst/>
          </a:prstGeom>
          <a:solidFill>
            <a:srgbClr val="FFF2CC"/>
          </a:solidFill>
          <a:ln w="15240">
            <a:solidFill>
              <a:srgbClr val="D6B6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 lIns="50800" rIns="50800"/>
          <a:lstStyle/>
          <a:p>
            <a:pPr algn="ctr">
              <a:defRPr sz="1300" b="1">
                <a:solidFill>
                  <a:srgbClr val="333333"/>
                </a:solidFill>
                <a:latin typeface="PingFang SC"/>
              </a:defRPr>
            </a:pPr>
            <a:r>
              <a:t>⚠ GooseFSRuntime 已废弃 (deprecated)，相关资源与文档已清理，建议存量用户规划迁移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52000" y="2714399"/>
            <a:ext cx="9720000" cy="291600"/>
          </a:xfrm>
          <a:prstGeom prst="rect">
            <a:avLst/>
          </a:prstGeom>
          <a:noFill/>
        </p:spPr>
        <p:txBody>
          <a:bodyPr wrap="square" tIns="12700" bIns="12700" lIns="25400" rIns="25400" anchor="ctr">
            <a:spAutoFit/>
          </a:bodyPr>
          <a:lstStyle/>
          <a:p>
            <a:pPr algn="ctr">
              <a:defRPr sz="1400" b="1">
                <a:solidFill>
                  <a:srgbClr val="333333"/>
                </a:solidFill>
                <a:latin typeface="PingFang SC"/>
              </a:defRPr>
            </a:pPr>
            <a:r>
              <a:t>升级：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52000" y="3006000"/>
            <a:ext cx="9720000" cy="1166400"/>
          </a:xfrm>
          <a:prstGeom prst="roundRect">
            <a:avLst/>
          </a:prstGeom>
          <a:solidFill>
            <a:srgbClr val="2B2B2B"/>
          </a:solidFill>
          <a:ln w="15240">
            <a:solidFill>
              <a:srgbClr val="2B2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 lIns="50800" rIns="50800"/>
          <a:lstStyle/>
          <a:p>
            <a:pPr algn="ctr">
              <a:defRPr sz="1300" b="0">
                <a:solidFill>
                  <a:srgbClr val="FFFFFF"/>
                </a:solidFill>
                <a:latin typeface="PingFang SC"/>
              </a:defRPr>
            </a:pPr>
            <a:r>
              <a:t>helm repo add fluid https://fluid-cloudnative.github.io/charts</a:t>
            </a:r>
            <a:br/>
            <a:r>
              <a:t>helm repo update</a:t>
            </a:r>
            <a:br/>
            <a:r>
              <a:t>helm upgrade --install fluid fluid/fluid --version 1.1.0 -n fluid-system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52000" y="4334400"/>
            <a:ext cx="9720000" cy="518400"/>
          </a:xfrm>
          <a:prstGeom prst="rect">
            <a:avLst/>
          </a:prstGeom>
          <a:noFill/>
        </p:spPr>
        <p:txBody>
          <a:bodyPr wrap="square" tIns="12700" bIns="12700" lIns="25400" rIns="25400" anchor="ctr">
            <a:spAutoFit/>
          </a:bodyPr>
          <a:lstStyle/>
          <a:p>
            <a:pPr algn="ctr">
              <a:defRPr sz="1200" b="0">
                <a:solidFill>
                  <a:srgbClr val="666666"/>
                </a:solidFill>
                <a:latin typeface="PingFang SC"/>
              </a:defRPr>
            </a:pPr>
            <a:r>
              <a:t>注意：新增 CacheRuntime / CacheRuntimeClass CRD，升级时请一并更新 CRD；</a:t>
            </a:r>
            <a:br/>
            <a:r>
              <a:t>使用 CacheRuntime 需在集群安装 AdvancedStatefulSet (OpenKruise) 控制器。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20000" y="144000"/>
            <a:ext cx="10728000" cy="503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900" b="1">
                <a:solidFill>
                  <a:srgbClr val="333333"/>
                </a:solidFill>
                <a:latin typeface="PingFang SC"/>
              </a:defRPr>
            </a:pPr>
            <a:r>
              <a:t>2026 Roadmap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27999" y="1742400"/>
            <a:ext cx="3726000" cy="1490400"/>
          </a:xfrm>
          <a:prstGeom prst="roundRect">
            <a:avLst/>
          </a:prstGeom>
          <a:solidFill>
            <a:srgbClr val="D5E8D4"/>
          </a:solidFill>
          <a:ln w="15240">
            <a:solidFill>
              <a:srgbClr val="82B366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25200" y="1774800"/>
            <a:ext cx="3564000" cy="291600"/>
          </a:xfrm>
          <a:prstGeom prst="rect">
            <a:avLst/>
          </a:prstGeom>
          <a:noFill/>
        </p:spPr>
        <p:txBody>
          <a:bodyPr wrap="square" tIns="12700" bIns="12700" lIns="25400" rIns="25400" anchor="ctr">
            <a:spAutoFit/>
          </a:bodyPr>
          <a:lstStyle/>
          <a:p>
            <a:pPr algn="ctr">
              <a:defRPr sz="1150" b="1">
                <a:solidFill>
                  <a:srgbClr val="82B366"/>
                </a:solidFill>
                <a:latin typeface="PingFang SC"/>
              </a:defRPr>
            </a:pPr>
            <a:r>
              <a:t>Data Anyway · 不受基础设施约束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2400" y="2098800"/>
            <a:ext cx="3499200" cy="194400"/>
          </a:xfrm>
          <a:prstGeom prst="rect">
            <a:avLst/>
          </a:prstGeom>
          <a:noFill/>
        </p:spPr>
        <p:txBody>
          <a:bodyPr wrap="square" tIns="12700" bIns="12700" lIns="25400" rIns="25400" anchor="ctr">
            <a:spAutoFit/>
          </a:bodyPr>
          <a:lstStyle/>
          <a:p>
            <a:pPr algn="l">
              <a:defRPr sz="950" b="0">
                <a:solidFill>
                  <a:srgbClr val="333333"/>
                </a:solidFill>
                <a:latin typeface="PingFang SC"/>
              </a:defRPr>
            </a:pPr>
            <a:r>
              <a:t>▸ Generic Cache Runtime 可插拔接口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2400" y="2312640"/>
            <a:ext cx="3499200" cy="194400"/>
          </a:xfrm>
          <a:prstGeom prst="rect">
            <a:avLst/>
          </a:prstGeom>
          <a:noFill/>
        </p:spPr>
        <p:txBody>
          <a:bodyPr wrap="square" tIns="12700" bIns="12700" lIns="25400" rIns="25400" anchor="ctr">
            <a:spAutoFit/>
          </a:bodyPr>
          <a:lstStyle/>
          <a:p>
            <a:pPr algn="l">
              <a:defRPr sz="950" b="0">
                <a:solidFill>
                  <a:srgbClr val="333333"/>
                </a:solidFill>
                <a:latin typeface="PingFang SC"/>
              </a:defRPr>
            </a:pPr>
            <a:r>
              <a:t>▸ 全面迁移 AdvancedStatefulSet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2400" y="2526480"/>
            <a:ext cx="3499200" cy="194400"/>
          </a:xfrm>
          <a:prstGeom prst="rect">
            <a:avLst/>
          </a:prstGeom>
          <a:noFill/>
        </p:spPr>
        <p:txBody>
          <a:bodyPr wrap="square" tIns="12700" bIns="12700" lIns="25400" rIns="25400" anchor="ctr">
            <a:spAutoFit/>
          </a:bodyPr>
          <a:lstStyle/>
          <a:p>
            <a:pPr algn="l">
              <a:defRPr sz="950" b="0">
                <a:solidFill>
                  <a:srgbClr val="333333"/>
                </a:solidFill>
                <a:latin typeface="PingFang SC"/>
              </a:defRPr>
            </a:pPr>
            <a:r>
              <a:t>▸ Runtime 零停机动态调参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2400" y="2740320"/>
            <a:ext cx="3499200" cy="194400"/>
          </a:xfrm>
          <a:prstGeom prst="rect">
            <a:avLst/>
          </a:prstGeom>
          <a:noFill/>
        </p:spPr>
        <p:txBody>
          <a:bodyPr wrap="square" tIns="12700" bIns="12700" lIns="25400" rIns="25400" anchor="ctr">
            <a:spAutoFit/>
          </a:bodyPr>
          <a:lstStyle/>
          <a:p>
            <a:pPr algn="l">
              <a:defRPr sz="950" b="0">
                <a:solidFill>
                  <a:srgbClr val="333333"/>
                </a:solidFill>
                <a:latin typeface="PingFang SC"/>
              </a:defRPr>
            </a:pPr>
            <a:r>
              <a:t>▸ API 升级 v1alpha2 + 转换 Webhook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2400" y="2954160"/>
            <a:ext cx="3499200" cy="194400"/>
          </a:xfrm>
          <a:prstGeom prst="rect">
            <a:avLst/>
          </a:prstGeom>
          <a:noFill/>
        </p:spPr>
        <p:txBody>
          <a:bodyPr wrap="square" tIns="12700" bIns="12700" lIns="25400" rIns="25400" anchor="ctr">
            <a:spAutoFit/>
          </a:bodyPr>
          <a:lstStyle/>
          <a:p>
            <a:pPr algn="l">
              <a:defRPr sz="950" b="0">
                <a:solidFill>
                  <a:srgbClr val="333333"/>
                </a:solidFill>
                <a:latin typeface="PingFang SC"/>
              </a:defRPr>
            </a:pPr>
            <a:r>
              <a:t>▸ ThinRuntime 产品化 (最小权限)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7999" y="3427200"/>
            <a:ext cx="3726000" cy="1360800"/>
          </a:xfrm>
          <a:prstGeom prst="roundRect">
            <a:avLst/>
          </a:prstGeom>
          <a:solidFill>
            <a:srgbClr val="DAE8FC"/>
          </a:solidFill>
          <a:ln w="15240">
            <a:solidFill>
              <a:srgbClr val="6C8EBF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25200" y="3459600"/>
            <a:ext cx="3564000" cy="291600"/>
          </a:xfrm>
          <a:prstGeom prst="rect">
            <a:avLst/>
          </a:prstGeom>
          <a:noFill/>
        </p:spPr>
        <p:txBody>
          <a:bodyPr wrap="square" tIns="12700" bIns="12700" lIns="25400" rIns="25400" anchor="ctr">
            <a:spAutoFit/>
          </a:bodyPr>
          <a:lstStyle/>
          <a:p>
            <a:pPr algn="ctr">
              <a:defRPr sz="1150" b="1">
                <a:solidFill>
                  <a:srgbClr val="6C8EBF"/>
                </a:solidFill>
                <a:latin typeface="PingFang SC"/>
              </a:defRPr>
            </a:pPr>
            <a:r>
              <a:t>Data Anywhere · 跨地域/跨集群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2400" y="3783600"/>
            <a:ext cx="3499200" cy="194400"/>
          </a:xfrm>
          <a:prstGeom prst="rect">
            <a:avLst/>
          </a:prstGeom>
          <a:noFill/>
        </p:spPr>
        <p:txBody>
          <a:bodyPr wrap="square" tIns="12700" bIns="12700" lIns="25400" rIns="25400" anchor="ctr">
            <a:spAutoFit/>
          </a:bodyPr>
          <a:lstStyle/>
          <a:p>
            <a:pPr algn="l">
              <a:defRPr sz="950" b="0">
                <a:solidFill>
                  <a:srgbClr val="333333"/>
                </a:solidFill>
                <a:latin typeface="PingFang SC"/>
              </a:defRPr>
            </a:pPr>
            <a:r>
              <a:t>▸ LLM KV Cache 编排 (vLLM/SGLang · Mooncake)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2400" y="4016880"/>
            <a:ext cx="3499200" cy="194400"/>
          </a:xfrm>
          <a:prstGeom prst="rect">
            <a:avLst/>
          </a:prstGeom>
          <a:noFill/>
        </p:spPr>
        <p:txBody>
          <a:bodyPr wrap="square" tIns="12700" bIns="12700" lIns="25400" rIns="25400" anchor="ctr">
            <a:spAutoFit/>
          </a:bodyPr>
          <a:lstStyle/>
          <a:p>
            <a:pPr algn="l">
              <a:defRPr sz="950" b="0">
                <a:solidFill>
                  <a:srgbClr val="333333"/>
                </a:solidFill>
                <a:latin typeface="PingFang SC"/>
              </a:defRPr>
            </a:pPr>
            <a:r>
              <a:t>▸ 跨 Pod KV Cache 迁移共享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22400" y="4250160"/>
            <a:ext cx="3499200" cy="194400"/>
          </a:xfrm>
          <a:prstGeom prst="rect">
            <a:avLst/>
          </a:prstGeom>
          <a:noFill/>
        </p:spPr>
        <p:txBody>
          <a:bodyPr wrap="square" tIns="12700" bIns="12700" lIns="25400" rIns="25400" anchor="ctr">
            <a:spAutoFit/>
          </a:bodyPr>
          <a:lstStyle/>
          <a:p>
            <a:pPr algn="l">
              <a:defRPr sz="950" b="0">
                <a:solidFill>
                  <a:srgbClr val="333333"/>
                </a:solidFill>
                <a:latin typeface="PingFang SC"/>
              </a:defRPr>
            </a:pPr>
            <a:r>
              <a:t>▸ 分布式预热 + 带宽限速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2400" y="4483440"/>
            <a:ext cx="3499200" cy="194400"/>
          </a:xfrm>
          <a:prstGeom prst="rect">
            <a:avLst/>
          </a:prstGeom>
          <a:noFill/>
        </p:spPr>
        <p:txBody>
          <a:bodyPr wrap="square" tIns="12700" bIns="12700" lIns="25400" rIns="25400" anchor="ctr">
            <a:spAutoFit/>
          </a:bodyPr>
          <a:lstStyle/>
          <a:p>
            <a:pPr algn="l">
              <a:defRPr sz="950" b="0">
                <a:solidFill>
                  <a:srgbClr val="333333"/>
                </a:solidFill>
                <a:latin typeface="PingFang SC"/>
              </a:defRPr>
            </a:pPr>
            <a:r>
              <a:t>▸ 跨地域同步优化</a:t>
            </a:r>
          </a:p>
        </p:txBody>
      </p:sp>
      <p:pic>
        <p:nvPicPr>
          <p:cNvPr id="16" name="Picture 15" descr="roadmap-2026-z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97416" y="1296000"/>
            <a:ext cx="2525167" cy="3456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3D9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52000" y="2034000"/>
            <a:ext cx="9720000" cy="648000"/>
          </a:xfrm>
          <a:prstGeom prst="rect">
            <a:avLst/>
          </a:prstGeom>
          <a:noFill/>
        </p:spPr>
        <p:txBody>
          <a:bodyPr wrap="square" tIns="12700" bIns="12700" lIns="25400" rIns="25400" anchor="ctr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PingFang SC"/>
              </a:defRPr>
            </a:pPr>
            <a:r>
              <a:t>参与社区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52000" y="2973600"/>
            <a:ext cx="9720000" cy="1134000"/>
          </a:xfrm>
          <a:prstGeom prst="rect">
            <a:avLst/>
          </a:prstGeom>
          <a:noFill/>
        </p:spPr>
        <p:txBody>
          <a:bodyPr wrap="square" tIns="12700" bIns="12700" lIns="25400" rIns="25400" anchor="ctr">
            <a:spAutoFit/>
          </a:bodyPr>
          <a:lstStyle/>
          <a:p>
            <a:pPr algn="ctr">
              <a:defRPr sz="1700" b="0">
                <a:solidFill>
                  <a:srgbClr val="FFFFFF"/>
                </a:solidFill>
                <a:latin typeface="PingFang SC"/>
              </a:defRPr>
            </a:pPr>
            <a:r>
              <a:t>⭐  github.com/fluid-cloudnative/fluid</a:t>
            </a:r>
            <a:br/>
            <a:br/>
            <a:r>
              <a:t>💬  提交 Issue / PR，把你的缓存引擎接入 CacheRuntime 生态</a:t>
            </a:r>
            <a:br/>
            <a:br/>
            <a:r>
              <a:t>🙏  感谢本周期 125 位贡献者的付出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52000" y="5274000"/>
            <a:ext cx="9720000" cy="388800"/>
          </a:xfrm>
          <a:prstGeom prst="rect">
            <a:avLst/>
          </a:prstGeom>
          <a:noFill/>
        </p:spPr>
        <p:txBody>
          <a:bodyPr wrap="square" tIns="12700" bIns="12700" lIns="25400" rIns="25400" anchor="ctr">
            <a:spAutoFit/>
          </a:bodyPr>
          <a:lstStyle/>
          <a:p>
            <a:pPr algn="ctr">
              <a:defRPr sz="1400" b="1">
                <a:solidFill>
                  <a:srgbClr val="FFC107"/>
                </a:solidFill>
                <a:latin typeface="PingFang SC"/>
              </a:defRPr>
            </a:pPr>
            <a:r>
              <a:t>Fluid 1.1.0 · CNCF Incubating Project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